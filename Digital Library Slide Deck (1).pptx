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ontserrat SemiBold"/>
      <p:regular r:id="rId19"/>
      <p:bold r:id="rId20"/>
      <p:italic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18C8BF-1D54-4869-A189-FF33AB90CD66}">
  <a:tblStyle styleId="{7D18C8BF-1D54-4869-A189-FF33AB90CD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89ce31f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d89ce31f8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d89ce31f8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d89ce31f8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d89ce31f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d89ce31f8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d89ce31f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d89ce31f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d89ce31f8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d89ce31f8_1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24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58100" y="0"/>
            <a:ext cx="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0" y="123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845608"/>
            <a:ext cx="1952625" cy="173566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864895" y="3216963"/>
            <a:ext cx="621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Smart Digital Library</a:t>
            </a:r>
            <a:endParaRPr sz="3200"/>
          </a:p>
        </p:txBody>
      </p:sp>
      <p:sp>
        <p:nvSpPr>
          <p:cNvPr id="89" name="Google Shape;89;p13"/>
          <p:cNvSpPr txBox="1"/>
          <p:nvPr/>
        </p:nvSpPr>
        <p:spPr>
          <a:xfrm>
            <a:off x="2864888" y="3732750"/>
            <a:ext cx="59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90" name="Google Shape;90;p13"/>
          <p:cNvSpPr txBox="1"/>
          <p:nvPr/>
        </p:nvSpPr>
        <p:spPr>
          <a:xfrm>
            <a:off x="2090850" y="4499175"/>
            <a:ext cx="801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PRESENTED BY: SALOME</a:t>
            </a:r>
            <a:r>
              <a:rPr lang="en-US" sz="220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BARANES &amp; NOA RAZLAN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24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58100" y="0"/>
            <a:ext cx="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0" y="1238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62128" y="1084225"/>
            <a:ext cx="934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Problem: Traditional Library </a:t>
            </a:r>
            <a:endParaRPr sz="3200"/>
          </a:p>
        </p:txBody>
      </p:sp>
      <p:sp>
        <p:nvSpPr>
          <p:cNvPr id="99" name="Google Shape;99;p14"/>
          <p:cNvSpPr txBox="1"/>
          <p:nvPr/>
        </p:nvSpPr>
        <p:spPr>
          <a:xfrm>
            <a:off x="2090850" y="4455675"/>
            <a:ext cx="801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00" name="Google Shape;100;p14"/>
          <p:cNvSpPr txBox="1"/>
          <p:nvPr/>
        </p:nvSpPr>
        <p:spPr>
          <a:xfrm>
            <a:off x="918625" y="2169650"/>
            <a:ext cx="1127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SemiBold"/>
              <a:buAutoNum type="arabicPeriod"/>
            </a:pPr>
            <a:r>
              <a:rPr lang="en-US" sz="36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Remote Accessibility &amp; Convenience 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SemiBold"/>
              <a:buAutoNum type="arabicPeriod"/>
            </a:pPr>
            <a:r>
              <a:rPr lang="en-US" sz="36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Waitlist </a:t>
            </a:r>
            <a:endParaRPr sz="36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SemiBold"/>
              <a:buAutoNum type="arabicPeriod"/>
            </a:pPr>
            <a:r>
              <a:rPr lang="en-US" sz="36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Ratings &amp; Reviews </a:t>
            </a:r>
            <a:endParaRPr sz="36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484775" y="49281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1375" y="3331149"/>
            <a:ext cx="4203425" cy="300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62675"/>
            <a:ext cx="3397300" cy="230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662683"/>
            <a:ext cx="3397299" cy="2300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662683"/>
            <a:ext cx="3397299" cy="230028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58100" y="0"/>
            <a:ext cx="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0" y="123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986533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09650" y="3653283"/>
            <a:ext cx="304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FastAPI</a:t>
            </a:r>
            <a:endParaRPr sz="3300"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5074" y="2986533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4645074" y="3653283"/>
            <a:ext cx="304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SQLite3</a:t>
            </a:r>
            <a:endParaRPr sz="3400"/>
          </a:p>
        </p:txBody>
      </p:sp>
      <p:sp>
        <p:nvSpPr>
          <p:cNvPr id="117" name="Google Shape;117;p15"/>
          <p:cNvSpPr txBox="1"/>
          <p:nvPr/>
        </p:nvSpPr>
        <p:spPr>
          <a:xfrm>
            <a:off x="4645074" y="4024758"/>
            <a:ext cx="290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80499" y="2986533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280499" y="3653283"/>
            <a:ext cx="304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Jinja2</a:t>
            </a:r>
            <a:endParaRPr sz="3400"/>
          </a:p>
        </p:txBody>
      </p:sp>
      <p:sp>
        <p:nvSpPr>
          <p:cNvPr id="120" name="Google Shape;120;p15"/>
          <p:cNvSpPr txBox="1"/>
          <p:nvPr/>
        </p:nvSpPr>
        <p:spPr>
          <a:xfrm>
            <a:off x="8280499" y="4024758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71575" y="313417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06999" y="313417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99561" y="313417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Libraries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58100" y="0"/>
            <a:ext cx="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0" y="123825"/>
            <a:ext cx="152400" cy="152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" name="Google Shape;133;p16"/>
          <p:cNvGraphicFramePr/>
          <p:nvPr/>
        </p:nvGraphicFramePr>
        <p:xfrm>
          <a:off x="1155425" y="1639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{7D18C8BF-1D54-4869-A189-FF33AB90CD66}</a:tableStyleId>
              </a:tblPr>
              <a:tblGrid>
                <a:gridCol w="2322575"/>
                <a:gridCol w="5790450"/>
                <a:gridCol w="2123050"/>
              </a:tblGrid>
              <a:tr h="85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38BDF8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Table Name</a:t>
                      </a:r>
                      <a:endParaRPr sz="2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38BDF8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Description </a:t>
                      </a:r>
                      <a:endParaRPr sz="2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85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Users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id_user</a:t>
                      </a:r>
                      <a:r>
                        <a:rPr b="0" i="0" lang="en-US" sz="18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80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user_name</a:t>
                      </a:r>
                      <a:r>
                        <a:rPr b="0" i="0" lang="en-US" sz="18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email, full_name and passwords.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85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Books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id,title</a:t>
                      </a:r>
                      <a:r>
                        <a:rPr b="0" i="0" lang="en-US" sz="18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author, summary, category, prices, and rating.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85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Loans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id, id_user, book_id,</a:t>
                      </a:r>
                      <a:r>
                        <a:rPr b="0" i="0" lang="en-US" sz="18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borrow dates, return_due_date , actual_return_date</a:t>
                      </a:r>
                      <a:r>
                        <a:rPr lang="en-US" sz="180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85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Waitlist</a:t>
                      </a:r>
                      <a:endParaRPr b="1" i="0" sz="1800" u="none" cap="none" strike="noStrike">
                        <a:solidFill>
                          <a:srgbClr val="E2E8F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E2E8F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Ratings </a:t>
                      </a:r>
                      <a:endParaRPr b="1" sz="1800">
                        <a:solidFill>
                          <a:srgbClr val="E2E8F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id, book_id, id_user, joined_day and ratings</a:t>
                      </a:r>
                      <a:r>
                        <a:rPr b="0" i="0" lang="en-US" sz="18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b="0" i="0" sz="1800" u="none" cap="none" strike="noStrike">
                        <a:solidFill>
                          <a:srgbClr val="E2E8F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E2E8F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id, id_user, book_id, rating_value and review_text.</a:t>
                      </a:r>
                      <a:endParaRPr sz="1800">
                        <a:solidFill>
                          <a:srgbClr val="E2E8F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rgbClr val="E2E8F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65977" y="40926"/>
            <a:ext cx="2088848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/>
          <p:nvPr/>
        </p:nvSpPr>
        <p:spPr>
          <a:xfrm>
            <a:off x="766762" y="3498502"/>
            <a:ext cx="114329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1910060" y="3498502"/>
            <a:ext cx="285035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760416" y="3498502"/>
            <a:ext cx="104507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66762" y="4136677"/>
            <a:ext cx="114329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910060" y="4136677"/>
            <a:ext cx="285035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760416" y="4136677"/>
            <a:ext cx="104507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66762" y="4774852"/>
            <a:ext cx="114329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1910060" y="4774852"/>
            <a:ext cx="285035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760416" y="4774852"/>
            <a:ext cx="104507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Schema Architecture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375" y="1638302"/>
            <a:ext cx="51911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913" y="1638302"/>
            <a:ext cx="51911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7658100" y="0"/>
            <a:ext cx="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0" y="1238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71963" y="2287177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1. Active Loan Limits</a:t>
            </a:r>
            <a:endParaRPr sz="2400"/>
          </a:p>
        </p:txBody>
      </p:sp>
      <p:sp>
        <p:nvSpPr>
          <p:cNvPr id="156" name="Google Shape;156;p17"/>
          <p:cNvSpPr txBox="1"/>
          <p:nvPr/>
        </p:nvSpPr>
        <p:spPr>
          <a:xfrm>
            <a:off x="6356575" y="2395540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2. Overdue Account Locks</a:t>
            </a:r>
            <a:endParaRPr sz="2400"/>
          </a:p>
        </p:txBody>
      </p:sp>
      <p:sp>
        <p:nvSpPr>
          <p:cNvPr id="157" name="Google Shape;157;p17"/>
          <p:cNvSpPr txBox="1"/>
          <p:nvPr/>
        </p:nvSpPr>
        <p:spPr>
          <a:xfrm>
            <a:off x="6581775" y="3679477"/>
            <a:ext cx="450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58" name="Google Shape;158;p17"/>
          <p:cNvSpPr txBox="1"/>
          <p:nvPr/>
        </p:nvSpPr>
        <p:spPr>
          <a:xfrm>
            <a:off x="952500" y="571500"/>
            <a:ext cx="1100137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Strict Backend Validations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60252"/>
            <a:ext cx="51911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1063475" y="4376550"/>
            <a:ext cx="450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3. There is no double loans.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625" y="1638300"/>
            <a:ext cx="4350875" cy="150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913" y="1638302"/>
            <a:ext cx="51911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658100" y="0"/>
            <a:ext cx="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71963" y="2287177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00"/>
              <a:buFont typeface="Montserrat"/>
              <a:buAutoNum type="arabicPeriod"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Login and create account</a:t>
            </a:r>
            <a:endParaRPr sz="2400"/>
          </a:p>
        </p:txBody>
      </p:sp>
      <p:sp>
        <p:nvSpPr>
          <p:cNvPr id="171" name="Google Shape;171;p18"/>
          <p:cNvSpPr txBox="1"/>
          <p:nvPr/>
        </p:nvSpPr>
        <p:spPr>
          <a:xfrm>
            <a:off x="6356575" y="2395540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2. watch profile</a:t>
            </a:r>
            <a:endParaRPr sz="2400"/>
          </a:p>
        </p:txBody>
      </p:sp>
      <p:sp>
        <p:nvSpPr>
          <p:cNvPr id="172" name="Google Shape;172;p18"/>
          <p:cNvSpPr txBox="1"/>
          <p:nvPr/>
        </p:nvSpPr>
        <p:spPr>
          <a:xfrm>
            <a:off x="6581775" y="3679477"/>
            <a:ext cx="450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73" name="Google Shape;173;p18"/>
          <p:cNvSpPr txBox="1"/>
          <p:nvPr/>
        </p:nvSpPr>
        <p:spPr>
          <a:xfrm>
            <a:off x="952500" y="571500"/>
            <a:ext cx="1100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נננ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762000" y="571500"/>
            <a:ext cx="47700" cy="43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063475" y="4376550"/>
            <a:ext cx="459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6674975" y="4561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1063475" y="483650"/>
            <a:ext cx="8310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 &amp; Profile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8" name="Google Shape;17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925" y="3251475"/>
            <a:ext cx="3371925" cy="34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625" y="1638302"/>
            <a:ext cx="51911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913" y="1638302"/>
            <a:ext cx="51911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7658100" y="0"/>
            <a:ext cx="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71963" y="2287177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00"/>
              <a:buFont typeface="Montserrat"/>
              <a:buAutoNum type="arabicPeriod"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search book and author</a:t>
            </a:r>
            <a:endParaRPr sz="2400"/>
          </a:p>
        </p:txBody>
      </p:sp>
      <p:sp>
        <p:nvSpPr>
          <p:cNvPr id="188" name="Google Shape;188;p19"/>
          <p:cNvSpPr txBox="1"/>
          <p:nvPr/>
        </p:nvSpPr>
        <p:spPr>
          <a:xfrm>
            <a:off x="6356575" y="2395540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2. Book Recommendations</a:t>
            </a:r>
            <a:endParaRPr sz="2400"/>
          </a:p>
        </p:txBody>
      </p:sp>
      <p:sp>
        <p:nvSpPr>
          <p:cNvPr id="189" name="Google Shape;189;p19"/>
          <p:cNvSpPr txBox="1"/>
          <p:nvPr/>
        </p:nvSpPr>
        <p:spPr>
          <a:xfrm>
            <a:off x="6581775" y="3679477"/>
            <a:ext cx="450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90" name="Google Shape;190;p19"/>
          <p:cNvSpPr txBox="1"/>
          <p:nvPr/>
        </p:nvSpPr>
        <p:spPr>
          <a:xfrm>
            <a:off x="952500" y="571500"/>
            <a:ext cx="1100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נננ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762000" y="571500"/>
            <a:ext cx="47700" cy="43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60252"/>
            <a:ext cx="51911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1063475" y="4376550"/>
            <a:ext cx="4596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3. Book Ratings and Comments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6563" y="4053352"/>
            <a:ext cx="51911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6674975" y="45612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4. view book details</a:t>
            </a:r>
            <a:endParaRPr b="1" sz="24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1063475" y="483650"/>
            <a:ext cx="8310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625" y="1638302"/>
            <a:ext cx="51911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913" y="1638302"/>
            <a:ext cx="51911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658100" y="0"/>
            <a:ext cx="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71963" y="2287177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00"/>
              <a:buFont typeface="Montserrat"/>
              <a:buAutoNum type="arabicPeriod"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Borrowing a free book</a:t>
            </a:r>
            <a:endParaRPr sz="2400"/>
          </a:p>
        </p:txBody>
      </p:sp>
      <p:sp>
        <p:nvSpPr>
          <p:cNvPr id="206" name="Google Shape;206;p20"/>
          <p:cNvSpPr txBox="1"/>
          <p:nvPr/>
        </p:nvSpPr>
        <p:spPr>
          <a:xfrm>
            <a:off x="6356575" y="2395540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2. return book</a:t>
            </a:r>
            <a:endParaRPr sz="2400"/>
          </a:p>
        </p:txBody>
      </p:sp>
      <p:sp>
        <p:nvSpPr>
          <p:cNvPr id="207" name="Google Shape;207;p20"/>
          <p:cNvSpPr txBox="1"/>
          <p:nvPr/>
        </p:nvSpPr>
        <p:spPr>
          <a:xfrm>
            <a:off x="6581775" y="3679477"/>
            <a:ext cx="450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08" name="Google Shape;208;p20"/>
          <p:cNvSpPr txBox="1"/>
          <p:nvPr/>
        </p:nvSpPr>
        <p:spPr>
          <a:xfrm>
            <a:off x="952500" y="571500"/>
            <a:ext cx="1100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נננ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762000" y="571500"/>
            <a:ext cx="47700" cy="43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60252"/>
            <a:ext cx="51911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1063475" y="4376550"/>
            <a:ext cx="459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3. limit time 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6563" y="4053352"/>
            <a:ext cx="51911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674975" y="45612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4. list of all books borrowed</a:t>
            </a:r>
            <a:endParaRPr b="1" sz="24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063475" y="483650"/>
            <a:ext cx="8310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Loans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625" y="1638302"/>
            <a:ext cx="51911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913" y="1638302"/>
            <a:ext cx="51911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7658100" y="0"/>
            <a:ext cx="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71963" y="2287177"/>
            <a:ext cx="473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00"/>
              <a:buFont typeface="Montserrat"/>
              <a:buAutoNum type="arabicPeriod"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marked book as loan or not</a:t>
            </a:r>
            <a:endParaRPr sz="2400"/>
          </a:p>
        </p:txBody>
      </p:sp>
      <p:sp>
        <p:nvSpPr>
          <p:cNvPr id="224" name="Google Shape;224;p21"/>
          <p:cNvSpPr txBox="1"/>
          <p:nvPr/>
        </p:nvSpPr>
        <p:spPr>
          <a:xfrm>
            <a:off x="6356575" y="2395539"/>
            <a:ext cx="4730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Preventing double borrowing</a:t>
            </a:r>
            <a:endParaRPr b="1" sz="24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24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581775" y="3679477"/>
            <a:ext cx="450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26" name="Google Shape;226;p21"/>
          <p:cNvSpPr txBox="1"/>
          <p:nvPr/>
        </p:nvSpPr>
        <p:spPr>
          <a:xfrm>
            <a:off x="952500" y="571500"/>
            <a:ext cx="1100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נננ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762000" y="571500"/>
            <a:ext cx="47700" cy="43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1063475" y="4376550"/>
            <a:ext cx="459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6674975" y="4561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8BD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1063475" y="483650"/>
            <a:ext cx="8310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Availability management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8125" y="1238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74119"/>
            <a:ext cx="4158853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7658100" y="0"/>
            <a:ext cx="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pic>
        <p:nvPicPr>
          <p:cNvPr descr="image.png" id="238" name="Google Shape;2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0" y="1238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762000" y="2902594"/>
            <a:ext cx="504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40" name="Google Shape;240;p22"/>
          <p:cNvSpPr txBox="1"/>
          <p:nvPr/>
        </p:nvSpPr>
        <p:spPr>
          <a:xfrm>
            <a:off x="6715163" y="2028894"/>
            <a:ext cx="47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" name="Google Shape;241;p22"/>
          <p:cNvSpPr txBox="1"/>
          <p:nvPr/>
        </p:nvSpPr>
        <p:spPr>
          <a:xfrm>
            <a:off x="6715125" y="3812827"/>
            <a:ext cx="47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image.png" id="242" name="Google Shape;24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863309"/>
            <a:ext cx="1077500" cy="113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952500" y="571500"/>
            <a:ext cx="1100137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Chronological Waitlist Algorithm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2326575" y="3269213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If the book is on loan, you can join the waiting list.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97832"/>
            <a:ext cx="10668000" cy="182999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7658100" y="0"/>
            <a:ext cx="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pic>
        <p:nvPicPr>
          <p:cNvPr descr="image.png" id="253" name="Google Shape;25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0" y="1238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6715125" y="2897832"/>
            <a:ext cx="4714800" cy="16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Validation:</a:t>
            </a:r>
            <a:r>
              <a:rPr b="0" i="0" lang="en-US" sz="2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Only verified customers who completed full returns are authorized to submit stars and reviews.</a:t>
            </a:r>
            <a:endParaRPr sz="2100"/>
          </a:p>
        </p:txBody>
      </p:sp>
      <p:sp>
        <p:nvSpPr>
          <p:cNvPr id="255" name="Google Shape;255;p23"/>
          <p:cNvSpPr txBox="1"/>
          <p:nvPr/>
        </p:nvSpPr>
        <p:spPr>
          <a:xfrm>
            <a:off x="6808300" y="4727825"/>
            <a:ext cx="4714800" cy="1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Dynamic DB Recalculations: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backend computes averages on post-requests and commits immediate updates to Books rating row columns.</a:t>
            </a:r>
            <a:endParaRPr sz="2000"/>
          </a:p>
        </p:txBody>
      </p:sp>
      <p:pic>
        <p:nvPicPr>
          <p:cNvPr descr="image.png" id="256" name="Google Shape;25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93116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72782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952500" y="571500"/>
            <a:ext cx="1100137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Verified Ratings &amp; Average Scores</a:t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7658100" y="0"/>
            <a:ext cx="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 / Export Slide Deck as PDF </a:t>
            </a:r>
            <a:endParaRPr/>
          </a:p>
        </p:txBody>
      </p:sp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0" y="123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0" y="2109787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4315777" y="3109912"/>
            <a:ext cx="35604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Questions &amp; Answers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4348162" y="3624262"/>
            <a:ext cx="3495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Thank you for your time and attention!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4581525" y="4405312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Developer: salome.shalom@example.com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